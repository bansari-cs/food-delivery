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56" r:id="rId3"/>
    <p:sldId id="266" r:id="rId4"/>
    <p:sldId id="267" r:id="rId5"/>
    <p:sldId id="268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4630400" cy="8229600"/>
  <p:notesSz cx="8229600" cy="146304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Roboto Slab" panose="020B0604020202020204" charset="0"/>
      <p:regular r:id="rId20"/>
    </p:embeddedFont>
    <p:embeddedFont>
      <p:font typeface="Roboto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6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263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-4-8.svg"/><Relationship Id="rId3" Type="http://schemas.openxmlformats.org/officeDocument/2006/relationships/image" Target="../media/image6.png"/><Relationship Id="rId12" Type="http://schemas.openxmlformats.org/officeDocument/2006/relationships/image" Target="../media/image-4-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-4-6.svg"/><Relationship Id="rId5" Type="http://schemas.openxmlformats.org/officeDocument/2006/relationships/image" Target="../media/image-4-4.svg"/><Relationship Id="rId10" Type="http://schemas.openxmlformats.org/officeDocument/2006/relationships/image" Target="../media/image-4-10.svg"/><Relationship Id="rId4" Type="http://schemas.openxmlformats.org/officeDocument/2006/relationships/image" Target="../media/image-4-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-8-8.svg"/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-8-6.svg"/><Relationship Id="rId5" Type="http://schemas.openxmlformats.org/officeDocument/2006/relationships/image" Target="../media/image-8-4.svg"/><Relationship Id="rId10" Type="http://schemas.openxmlformats.org/officeDocument/2006/relationships/image" Target="../media/image-8-10.svg"/><Relationship Id="rId4" Type="http://schemas.openxmlformats.org/officeDocument/2006/relationships/image" Target="../media/image-8-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8947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538413"/>
            <a:ext cx="3664744" cy="2168843"/>
          </a:xfrm>
          <a:prstGeom prst="roundRect">
            <a:avLst>
              <a:gd name="adj" fmla="val 1569"/>
            </a:avLst>
          </a:prstGeom>
          <a:solidFill>
            <a:srgbClr val="E9ECF2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27652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Developers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255645"/>
            <a:ext cx="3211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Sangani Mitali &amp; Katoch Rishita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0604" y="3754636"/>
            <a:ext cx="3211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Master of Computer Application, Sem-IV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348" y="2538413"/>
            <a:ext cx="3664863" cy="2168843"/>
          </a:xfrm>
          <a:prstGeom prst="roundRect">
            <a:avLst>
              <a:gd name="adj" fmla="val 1569"/>
            </a:avLst>
          </a:prstGeom>
          <a:solidFill>
            <a:srgbClr val="E9ECF2"/>
          </a:solidFill>
          <a:ln/>
        </p:spPr>
      </p:sp>
      <p:sp>
        <p:nvSpPr>
          <p:cNvPr id="9" name="Text 6"/>
          <p:cNvSpPr/>
          <p:nvPr/>
        </p:nvSpPr>
        <p:spPr>
          <a:xfrm>
            <a:off x="4912162" y="27652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Guidance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12162" y="3255645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Prof. Pritesh Vyas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912162" y="3754636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Faculty of Computer Applications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4934069"/>
            <a:ext cx="7556421" cy="1805940"/>
          </a:xfrm>
          <a:prstGeom prst="roundRect">
            <a:avLst>
              <a:gd name="adj" fmla="val 1884"/>
            </a:avLst>
          </a:prstGeom>
          <a:solidFill>
            <a:srgbClr val="E9ECF2"/>
          </a:solidFill>
          <a:ln/>
        </p:spPr>
      </p:sp>
      <p:sp>
        <p:nvSpPr>
          <p:cNvPr id="13" name="Text 10"/>
          <p:cNvSpPr/>
          <p:nvPr/>
        </p:nvSpPr>
        <p:spPr>
          <a:xfrm>
            <a:off x="1020604" y="51608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Institution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20604" y="5651302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Ahmedabad Institute of Technology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020604" y="615029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Approved by AICTE &amp; AICTE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45976"/>
            <a:ext cx="63641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E-NGO Web Application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9491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multi-tenant platform connecting donors, volunteers, NGOs, and corporate partners through AI-driven recommendations and blockchain-secured transparency.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35345" y="7635834"/>
            <a:ext cx="1995055" cy="5937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68136" y="534390"/>
            <a:ext cx="8027720" cy="9448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EcoNexus: A Future-Ready NGO Ecosystem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ENGO Web Application (EcoNexus NGO)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modern, integrated digital platform designed to streamline and improve the transparency of Non-Governmental Organizations (NGOs).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framework, the system provides a centralized hub to manage donations, volunteers, and social impact campaigns through a secure, multi-tenant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architecture.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EcoNexus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to create a smart and accountable ecosystem for social good. By replacing fragmented, manual systems with a unified digital solution, it enhances the reach and effectiveness of social initiatives while providing a foundation for future expansions like mobile applications and global multi-currency support.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vbb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5856" y="429477"/>
            <a:ext cx="5818908" cy="565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69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35345" y="7635834"/>
            <a:ext cx="1995055" cy="5937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8753" y="296883"/>
            <a:ext cx="13671388" cy="8094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NGO sector faces significant operational hurdles due to fragmented, manual, and non-transparent management systems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Fragmentation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Services: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existing platforms operate independently, forcing donors and volunteers to manage separate accounts and records for different organizations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&amp; Inefficient Operations: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Many NGOs still rely on manual record-keeping or basic spreadsheets, leading to data inconsistency, record duplication, and increased human error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&amp; Trust Gap: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Donors often lack real-time visibility into how their contributions are utilized, which reduces confidence and discourages long-term engagement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Resource Coordination: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absence of a structured volunteer management system results in the underutilization of human capital, as skills are not effectively matched with organizational needs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 Risks: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systems frequently lack robust encryption and modern security measures, making sensitive user data and financial transactions vulnerable to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breaches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Engagement: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platforms often suffer from slow responsiveness, missing live updates for donation progress or instant campaign notifications.</a:t>
            </a:r>
          </a:p>
        </p:txBody>
      </p:sp>
    </p:spTree>
    <p:extLst>
      <p:ext uri="{BB962C8B-B14F-4D97-AF65-F5344CB8AC3E}">
        <p14:creationId xmlns:p14="http://schemas.microsoft.com/office/powerpoint/2010/main" val="1676444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35345" y="7635834"/>
            <a:ext cx="1995055" cy="5937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60638" y="-5667428"/>
            <a:ext cx="14469762" cy="12311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300" b="1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300" b="1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300" b="1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300" b="1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300" b="1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300" b="1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300" b="1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300" b="1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300" b="1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300" b="1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300" b="1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300" b="1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300" b="1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300" b="1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300" b="1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Solution: EcoNexus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the challenges of fragmentation and mistrust,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EcoNexus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all-in-one digital ecosystem that streamlines NGO operations through modern technology.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Unified Centralized Platform: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Integrates donation management, volunteer coordination, and corporate CSR activities into a single, cohesive system.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Multi-Tenant Architecture: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Built using a scalable architecture that allows multiple NGOs to operate on a single platform while maintaining complete data isolation and security.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-Driven Transparency: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Implements 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-simulated ledger to record donations with unique SHA-256 hashes, ensuring immutable and verifiable financial records.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AI-Powered Intelligence: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Features AI modules for personalized donor recommendations, predictive analytics for campaign success, and automated volunteer skill-matching.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Responsiveness: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Utilizes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(Django Channels) to provide live updates for donation tracking and instant user notifications without page refreshes.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(RBAC):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Enables a seamless user experience where one account can securely switch between Donor, Volunteer, and Corporate roles.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Reporting &amp; Analytics: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customized dashboards for all stakeholders to monitor social impact through automated reports, certificates, and data visualizations.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035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7179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Architecture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9937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3574852"/>
            <a:ext cx="3501509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Django framework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Django REST APIs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SQLite3 database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WebSockets for real-time updates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Celery with Redis for background tasks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42721" y="29937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Advanced Features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42721" y="3574852"/>
            <a:ext cx="35015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AI-based recommendations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Blockchain integration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architecture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Role-based access control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 gateway integration</a:t>
            </a:r>
            <a:endParaRPr lang="en-US" sz="1750" dirty="0"/>
          </a:p>
        </p:txBody>
      </p:sp>
      <p:sp>
        <p:nvSpPr>
          <p:cNvPr id="8" name="Rectangle 7"/>
          <p:cNvSpPr/>
          <p:nvPr/>
        </p:nvSpPr>
        <p:spPr>
          <a:xfrm>
            <a:off x="12813475" y="7671460"/>
            <a:ext cx="1816925" cy="5581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1906"/>
            <a:ext cx="6187044" cy="6305798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613053"/>
            <a:ext cx="5050393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Features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6993" y="1604129"/>
            <a:ext cx="504944" cy="5049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6993" y="2333863"/>
            <a:ext cx="2768203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Multi-Donation Models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06993" y="2757368"/>
            <a:ext cx="649581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One-time, recurring, pledge-based, and wallet-based donations with automated receipts.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7595" y="1604129"/>
            <a:ext cx="504944" cy="5049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27595" y="2333863"/>
            <a:ext cx="2806184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Volunteer Management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7427595" y="2757368"/>
            <a:ext cx="649581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Skill-based matching, hour tracking, and automated certificate generation.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6993" y="3728204"/>
            <a:ext cx="504944" cy="5049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6993" y="4457938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Intelligence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706993" y="4881443"/>
            <a:ext cx="649581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Donor behavior analysis, campaign recommendations, and predictive analytics.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27595" y="3728204"/>
            <a:ext cx="504944" cy="5049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27595" y="4457938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Blockchain Security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7427595" y="4881443"/>
            <a:ext cx="649581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Immutable donation records with SHA-256 hash verification and transparent tracking.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6993" y="5852279"/>
            <a:ext cx="504944" cy="5049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6993" y="6582013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CSR Dashboard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706993" y="7005518"/>
            <a:ext cx="649581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Corporate funding, compliance tracking, and employee volunteering programs.</a:t>
            </a:r>
            <a:endParaRPr lang="en-US" sz="15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27595" y="5852279"/>
            <a:ext cx="504944" cy="50494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27595" y="6582013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Real-Time Updates</a:t>
            </a:r>
            <a:endParaRPr lang="en-US" sz="1950" dirty="0"/>
          </a:p>
        </p:txBody>
      </p:sp>
      <p:sp>
        <p:nvSpPr>
          <p:cNvPr id="20" name="Text 12"/>
          <p:cNvSpPr/>
          <p:nvPr/>
        </p:nvSpPr>
        <p:spPr>
          <a:xfrm>
            <a:off x="7427595" y="7005518"/>
            <a:ext cx="649581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donation tracking, instant notifications, and WebSocket-enabled dashboards.</a:t>
            </a:r>
            <a:endParaRPr lang="en-US" sz="1550" dirty="0"/>
          </a:p>
        </p:txBody>
      </p:sp>
      <p:sp>
        <p:nvSpPr>
          <p:cNvPr id="21" name="Rectangle 20"/>
          <p:cNvSpPr/>
          <p:nvPr/>
        </p:nvSpPr>
        <p:spPr>
          <a:xfrm>
            <a:off x="12777849" y="7742712"/>
            <a:ext cx="1852551" cy="486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9025" y="631746"/>
            <a:ext cx="7605951" cy="137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Donation &amp; Volunteer Management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25" y="2324219"/>
            <a:ext cx="1098590" cy="131837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80379" y="2543889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Browse Campaigns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2080379" y="3014782"/>
            <a:ext cx="6294596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Explore verified NGO campaigns across various sectors.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025" y="3642598"/>
            <a:ext cx="1098590" cy="131837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80379" y="3862268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Choose Contribution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2080379" y="4333161"/>
            <a:ext cx="6294596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 donation type or volunteer opportunity.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025" y="4960977"/>
            <a:ext cx="1098590" cy="131837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80379" y="5180647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Secure Processing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2080379" y="5651540"/>
            <a:ext cx="6294596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Encrypted transactions with blockchain verification.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025" y="6279356"/>
            <a:ext cx="1098590" cy="131837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080379" y="6499027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Track Impact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2080379" y="6969919"/>
            <a:ext cx="6294596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progress and view transparent fund usage.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486888" y="1717953"/>
            <a:ext cx="77208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&amp; Blockchain Integration</a:t>
            </a:r>
            <a:endParaRPr lang="en-US" sz="4450" dirty="0"/>
          </a:p>
        </p:txBody>
      </p:sp>
      <p:sp>
        <p:nvSpPr>
          <p:cNvPr id="6" name="Text 2"/>
          <p:cNvSpPr/>
          <p:nvPr/>
        </p:nvSpPr>
        <p:spPr>
          <a:xfrm>
            <a:off x="793790" y="2993708"/>
            <a:ext cx="32250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AI-Powered Intelligence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93790" y="3574852"/>
            <a:ext cx="3501509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Campaign recommendation engine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Donor churn prediction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Volunteer skill matching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Sentiment analysis from feedback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Predictive donation analytics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4856321" y="29937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Blockchain Security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856321" y="3574852"/>
            <a:ext cx="35015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Immutable transaction records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SHA-256 hash generation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Transparent fund tracking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Public verification capability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contract support</a:t>
            </a:r>
            <a:endParaRPr lang="en-US" sz="175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789" y="1911928"/>
            <a:ext cx="6344535" cy="51063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64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Benefits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88883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2488883"/>
            <a:ext cx="121920" cy="20937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27461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For Donors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42524" y="3236595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Simple, secure donation process with complete transparency in fund utilization and donation history tracking.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548" y="2488883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2488883"/>
            <a:ext cx="121920" cy="20937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7282" y="27461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For Volunteers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777282" y="3236595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Easy exploration of campaigns, skill-based matching, participation tracking, and automated certificates.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4809411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4809411"/>
            <a:ext cx="121920" cy="209371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2524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For NGOs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142524" y="5557123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campaign management, real-time donation tracking, volunteer coordination, and analytics dashboards.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428548" y="4809411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4809411"/>
            <a:ext cx="121920" cy="209371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7282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For Corporates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777282" y="5557123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CSR fund allocation, compliance reporting, employee volunteering programs, and impact analysis.</a:t>
            </a:r>
            <a:endParaRPr lang="en-US" sz="1750" dirty="0"/>
          </a:p>
        </p:txBody>
      </p:sp>
      <p:sp>
        <p:nvSpPr>
          <p:cNvPr id="19" name="Rectangle 18"/>
          <p:cNvSpPr/>
          <p:nvPr/>
        </p:nvSpPr>
        <p:spPr>
          <a:xfrm>
            <a:off x="12837226" y="7517081"/>
            <a:ext cx="1793174" cy="7125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37091"/>
            <a:ext cx="4931212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Enhancements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1022509" y="1716881"/>
            <a:ext cx="187762" cy="845225"/>
          </a:xfrm>
          <a:prstGeom prst="roundRect">
            <a:avLst>
              <a:gd name="adj" fmla="val 15006"/>
            </a:avLst>
          </a:prstGeom>
          <a:solidFill>
            <a:srgbClr val="E9ECF2"/>
          </a:solidFill>
          <a:ln/>
        </p:spPr>
      </p:sp>
      <p:sp>
        <p:nvSpPr>
          <p:cNvPr id="4" name="Shape 2"/>
          <p:cNvSpPr/>
          <p:nvPr/>
        </p:nvSpPr>
        <p:spPr>
          <a:xfrm>
            <a:off x="834628" y="1593652"/>
            <a:ext cx="563523" cy="563523"/>
          </a:xfrm>
          <a:prstGeom prst="roundRect">
            <a:avLst>
              <a:gd name="adj" fmla="val 81132"/>
            </a:avLst>
          </a:prstGeom>
          <a:solidFill>
            <a:srgbClr val="E9ECF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5479" y="1734622"/>
            <a:ext cx="281702" cy="281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3647" y="1622941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Mobile Applications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53647" y="2009656"/>
            <a:ext cx="122420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Android and iOS apps with push notifications and offline functionality.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1304211" y="2999423"/>
            <a:ext cx="187762" cy="845225"/>
          </a:xfrm>
          <a:prstGeom prst="roundRect">
            <a:avLst>
              <a:gd name="adj" fmla="val 15006"/>
            </a:avLst>
          </a:prstGeom>
          <a:solidFill>
            <a:srgbClr val="E9ECF2"/>
          </a:solidFill>
          <a:ln/>
        </p:spPr>
      </p:sp>
      <p:sp>
        <p:nvSpPr>
          <p:cNvPr id="9" name="Shape 6"/>
          <p:cNvSpPr/>
          <p:nvPr/>
        </p:nvSpPr>
        <p:spPr>
          <a:xfrm>
            <a:off x="1116330" y="2876193"/>
            <a:ext cx="563523" cy="563523"/>
          </a:xfrm>
          <a:prstGeom prst="roundRect">
            <a:avLst>
              <a:gd name="adj" fmla="val 81132"/>
            </a:avLst>
          </a:prstGeom>
          <a:solidFill>
            <a:srgbClr val="E9ECF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7181" y="3017163"/>
            <a:ext cx="281702" cy="2817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35348" y="2905482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Global Expansion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835348" y="3292197"/>
            <a:ext cx="11960304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Multi-language support and multi-currency transactions for international reach.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1586032" y="4281964"/>
            <a:ext cx="187762" cy="845225"/>
          </a:xfrm>
          <a:prstGeom prst="roundRect">
            <a:avLst>
              <a:gd name="adj" fmla="val 15006"/>
            </a:avLst>
          </a:prstGeom>
          <a:solidFill>
            <a:srgbClr val="E9ECF2"/>
          </a:solidFill>
          <a:ln/>
        </p:spPr>
      </p:sp>
      <p:sp>
        <p:nvSpPr>
          <p:cNvPr id="14" name="Shape 10"/>
          <p:cNvSpPr/>
          <p:nvPr/>
        </p:nvSpPr>
        <p:spPr>
          <a:xfrm>
            <a:off x="1398151" y="4158734"/>
            <a:ext cx="563523" cy="563523"/>
          </a:xfrm>
          <a:prstGeom prst="roundRect">
            <a:avLst>
              <a:gd name="adj" fmla="val 81132"/>
            </a:avLst>
          </a:prstGeom>
          <a:solidFill>
            <a:srgbClr val="E9ECF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39002" y="4299704"/>
            <a:ext cx="281702" cy="2817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17169" y="4188023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Gamification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2117169" y="4574738"/>
            <a:ext cx="11678483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Badges, leaderboards, and achievement systems to boost engagement.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1867733" y="5564505"/>
            <a:ext cx="187762" cy="845225"/>
          </a:xfrm>
          <a:prstGeom prst="roundRect">
            <a:avLst>
              <a:gd name="adj" fmla="val 15006"/>
            </a:avLst>
          </a:prstGeom>
          <a:solidFill>
            <a:srgbClr val="E9ECF2"/>
          </a:solidFill>
          <a:ln/>
        </p:spPr>
      </p:sp>
      <p:sp>
        <p:nvSpPr>
          <p:cNvPr id="19" name="Shape 14"/>
          <p:cNvSpPr/>
          <p:nvPr/>
        </p:nvSpPr>
        <p:spPr>
          <a:xfrm>
            <a:off x="1679853" y="5441275"/>
            <a:ext cx="563523" cy="563523"/>
          </a:xfrm>
          <a:prstGeom prst="roundRect">
            <a:avLst>
              <a:gd name="adj" fmla="val 81132"/>
            </a:avLst>
          </a:prstGeom>
          <a:solidFill>
            <a:srgbClr val="E9ECF2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20704" y="5582245"/>
            <a:ext cx="281702" cy="2817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398871" y="5470565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Geo-Based Services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2398871" y="5857280"/>
            <a:ext cx="11396782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Location-aware campaign suggestions and map-based tracking.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1586032" y="6847046"/>
            <a:ext cx="187762" cy="845225"/>
          </a:xfrm>
          <a:prstGeom prst="roundRect">
            <a:avLst>
              <a:gd name="adj" fmla="val 15006"/>
            </a:avLst>
          </a:prstGeom>
          <a:solidFill>
            <a:srgbClr val="E9ECF2"/>
          </a:solidFill>
          <a:ln/>
        </p:spPr>
      </p:sp>
      <p:sp>
        <p:nvSpPr>
          <p:cNvPr id="24" name="Shape 18"/>
          <p:cNvSpPr/>
          <p:nvPr/>
        </p:nvSpPr>
        <p:spPr>
          <a:xfrm>
            <a:off x="1398151" y="6723817"/>
            <a:ext cx="563523" cy="563523"/>
          </a:xfrm>
          <a:prstGeom prst="roundRect">
            <a:avLst>
              <a:gd name="adj" fmla="val 81132"/>
            </a:avLst>
          </a:prstGeom>
          <a:solidFill>
            <a:srgbClr val="E9ECF2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39002" y="6864787"/>
            <a:ext cx="281702" cy="28170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117169" y="6753106"/>
            <a:ext cx="2664619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Government Integration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2117169" y="7139821"/>
            <a:ext cx="11678483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CSR compliance and tax document generation.</a:t>
            </a:r>
            <a:endParaRPr lang="en-US" sz="1450" dirty="0"/>
          </a:p>
        </p:txBody>
      </p:sp>
      <p:sp>
        <p:nvSpPr>
          <p:cNvPr id="28" name="Rectangle 27"/>
          <p:cNvSpPr/>
          <p:nvPr/>
        </p:nvSpPr>
        <p:spPr>
          <a:xfrm>
            <a:off x="12789725" y="7588332"/>
            <a:ext cx="1840675" cy="6412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3042" y="678894"/>
            <a:ext cx="5404842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6567249" y="1895475"/>
            <a:ext cx="7306508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E-NGO Web Application transforms traditional NGO platforms into a smart, transparent, and future-ready ecosystem, ensuring trust, accountability, and improved collaboration among all stakeholders.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243042" y="1663660"/>
            <a:ext cx="30480" cy="1476970"/>
          </a:xfrm>
          <a:prstGeom prst="rect">
            <a:avLst/>
          </a:prstGeom>
          <a:solidFill>
            <a:srgbClr val="3257B8"/>
          </a:solidFill>
          <a:ln/>
        </p:spPr>
      </p:sp>
      <p:sp>
        <p:nvSpPr>
          <p:cNvPr id="6" name="Text 3"/>
          <p:cNvSpPr/>
          <p:nvPr/>
        </p:nvSpPr>
        <p:spPr>
          <a:xfrm>
            <a:off x="6243042" y="3480435"/>
            <a:ext cx="3686532" cy="713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100%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6735128" y="4456390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Transparency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243042" y="4917757"/>
            <a:ext cx="368653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Blockchain-secured donation tracking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187107" y="3480435"/>
            <a:ext cx="3686651" cy="713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24/7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10679192" y="4456390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Availability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187107" y="4917757"/>
            <a:ext cx="368665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updates and notifications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215074" y="5775603"/>
            <a:ext cx="3686532" cy="713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10+</a:t>
            </a:r>
            <a:endParaRPr lang="en-US" sz="5600" dirty="0"/>
          </a:p>
        </p:txBody>
      </p:sp>
      <p:sp>
        <p:nvSpPr>
          <p:cNvPr id="13" name="Text 10"/>
          <p:cNvSpPr/>
          <p:nvPr/>
        </p:nvSpPr>
        <p:spPr>
          <a:xfrm>
            <a:off x="8707160" y="6751558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Features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215074" y="7212925"/>
            <a:ext cx="368653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Integrated platform for all NGO needs</a:t>
            </a:r>
            <a:endParaRPr lang="en-US" sz="1700" dirty="0"/>
          </a:p>
        </p:txBody>
      </p:sp>
      <p:sp>
        <p:nvSpPr>
          <p:cNvPr id="15" name="Rectangle 14"/>
          <p:cNvSpPr/>
          <p:nvPr/>
        </p:nvSpPr>
        <p:spPr>
          <a:xfrm>
            <a:off x="12789725" y="7659584"/>
            <a:ext cx="1840675" cy="5700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8947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Thank You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538413"/>
            <a:ext cx="3664744" cy="2168843"/>
          </a:xfrm>
          <a:prstGeom prst="roundRect">
            <a:avLst>
              <a:gd name="adj" fmla="val 1569"/>
            </a:avLst>
          </a:prstGeom>
          <a:solidFill>
            <a:srgbClr val="E9ECF2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27652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Team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255645"/>
            <a:ext cx="3211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Sangani Mitali &amp; Katoch Rishita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0604" y="3754636"/>
            <a:ext cx="3211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MCA Semester IV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348" y="2538413"/>
            <a:ext cx="3664863" cy="2168843"/>
          </a:xfrm>
          <a:prstGeom prst="roundRect">
            <a:avLst>
              <a:gd name="adj" fmla="val 1569"/>
            </a:avLst>
          </a:prstGeom>
          <a:solidFill>
            <a:srgbClr val="E9ECF2"/>
          </a:solidFill>
          <a:ln/>
        </p:spPr>
      </p:sp>
      <p:sp>
        <p:nvSpPr>
          <p:cNvPr id="9" name="Text 6"/>
          <p:cNvSpPr/>
          <p:nvPr/>
        </p:nvSpPr>
        <p:spPr>
          <a:xfrm>
            <a:off x="4912162" y="27652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Guidance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12162" y="3255645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Prof. Pritesh Vyas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912162" y="3754636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Faculty of Computer Applications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4934069"/>
            <a:ext cx="7556421" cy="1805940"/>
          </a:xfrm>
          <a:prstGeom prst="roundRect">
            <a:avLst>
              <a:gd name="adj" fmla="val 1884"/>
            </a:avLst>
          </a:prstGeom>
          <a:solidFill>
            <a:srgbClr val="E9ECF2"/>
          </a:solidFill>
          <a:ln/>
        </p:spPr>
      </p:sp>
      <p:sp>
        <p:nvSpPr>
          <p:cNvPr id="13" name="Text 10"/>
          <p:cNvSpPr/>
          <p:nvPr/>
        </p:nvSpPr>
        <p:spPr>
          <a:xfrm>
            <a:off x="1020604" y="51608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Institution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20604" y="5651302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Ahmedabad Institute of Technology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020604" y="615029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Gujarat, India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960</Words>
  <Application>Microsoft Office PowerPoint</Application>
  <PresentationFormat>Custom</PresentationFormat>
  <Paragraphs>180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</vt:lpstr>
      <vt:lpstr>Arial</vt:lpstr>
      <vt:lpstr>Times New Roman</vt:lpstr>
      <vt:lpstr>Roboto Slab</vt:lpstr>
      <vt:lpstr>Google Sans Text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HELLO</cp:lastModifiedBy>
  <cp:revision>7</cp:revision>
  <dcterms:created xsi:type="dcterms:W3CDTF">2026-04-16T12:14:26Z</dcterms:created>
  <dcterms:modified xsi:type="dcterms:W3CDTF">2026-04-17T03:36:34Z</dcterms:modified>
</cp:coreProperties>
</file>